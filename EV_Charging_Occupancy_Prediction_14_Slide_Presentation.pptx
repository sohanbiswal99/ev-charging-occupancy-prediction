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EV Charging Station Occupancy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3"/>
                </a:solidFill>
              </a:defRPr>
            </a:pPr>
            <a:r>
              <a:t>Machine Learning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45C8C"/>
                </a:solidFill>
              </a:defRPr>
            </a:pPr>
            <a:r>
              <a:t>Predicting EV Charging Station Occupancy</a:t>
            </a:r>
          </a:p>
          <a:p>
            <a:pPr algn="ctr">
              <a:defRPr sz="2200"/>
            </a:pPr>
            <a:r>
              <a:t>Using Python, Pandas, Scikit-learn &amp; Decision Tree</a:t>
            </a:r>
          </a:p>
          <a:p>
            <a:pPr algn="ctr">
              <a:defRPr sz="1600"/>
            </a:pPr>
            <a:r>
              <a:t>Prepared for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EV charging stations can become crowded during peak periods.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Drivers may spend time searching for an available charging point.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Station operators need a way to understand and predict occupancy.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The project builds a machine-learning model to classify charging-station occupancy.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Goal: support better planning, reduced waiting time, and improved charging availability.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Analyze EV charging station data using Python.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Clean and prepare the dataset for machine learning.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Identify useful input features and the target variable.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Train and evaluate classification models.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Select a suitable model for occupancy prediction.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Save the trained model and feature names for future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Python — programming and machine-learning workflow.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Pandas — data loading, cleaning and transformation.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NumPy — numerical operations.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Matplotlib / Seaborn — data visualization and exploratory analysis.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Scikit-learn — train/test split, preprocessing, model training and evaluation.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Joblib — saving the trained model for later use.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Jupyter Notebook / Streamlit — development and possible application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Dataset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The project uses EV charging-station operational data.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Typical predictive inputs include charging/usage, time and station-related attributes available in the dataset.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Target: Occupancy_Status — the class to be predicted.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Data preparation includes checking columns, missing values, data types and duplicate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Important rule: the model must use exactly the same feature names and preprocessing during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1. Load the dataset into a Pandas DataFrame.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2. Inspect rows, columns, data types and missing values.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3. Remove or handle irrelevant/duplicate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4. Convert categorical values into machine-readable form where required.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5. Separate features (X) from target (y).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6. Split data into training and testing 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EDA helps understand patterns before model training.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Distribution plots can reveal frequently occurring occupancy classes.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Count plots can show whether classes are balanced or imbalanced.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Correlation analysis can identify relationships among numerical variables.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Visual analysis helps select useful features and detect unusual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Machine Learning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508760" cy="914400"/>
          </a:xfrm>
          <a:prstGeom prst="roundRect">
            <a:avLst/>
          </a:prstGeom>
          <a:solidFill>
            <a:srgbClr val="E1EEF6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39" y="2331720"/>
            <a:ext cx="1508760" cy="914400"/>
          </a:xfrm>
          <a:prstGeom prst="roundRect">
            <a:avLst/>
          </a:prstGeom>
          <a:solidFill>
            <a:srgbClr val="E1EEF6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Preprocess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59" y="2331720"/>
            <a:ext cx="1508760" cy="914400"/>
          </a:xfrm>
          <a:prstGeom prst="roundRect">
            <a:avLst/>
          </a:prstGeom>
          <a:solidFill>
            <a:srgbClr val="E1EEF6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Split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2331720"/>
            <a:ext cx="1508760" cy="914400"/>
          </a:xfrm>
          <a:prstGeom prst="roundRect">
            <a:avLst/>
          </a:prstGeom>
          <a:solidFill>
            <a:srgbClr val="E1EEF6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Train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331720"/>
            <a:ext cx="1508760" cy="914400"/>
          </a:xfrm>
          <a:prstGeom prst="roundRect">
            <a:avLst/>
          </a:prstGeom>
          <a:solidFill>
            <a:srgbClr val="E1EEF6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2331720"/>
            <a:ext cx="1508760" cy="914400"/>
          </a:xfrm>
          <a:prstGeom prst="roundRect">
            <a:avLst/>
          </a:prstGeom>
          <a:solidFill>
            <a:srgbClr val="E1EEF6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Save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83237"/>
                </a:solidFill>
              </a:defRPr>
            </a:pPr>
            <a:r>
              <a:t>Final output: a reusable trained model that predicts the occupancy class for new station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Model Used: Decision Tree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Decision Tree Classifier is suitable for classification problems.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It learns decision rules from the training data.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Each internal node represents a feature-based decision.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Leaf nodes represent the predicted occupancy class.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Advantages: easy to understand, fast to train, and can capture non-linear relationships.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Model performance should be judged using the test set, not only training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Accuracy — percentage of correctly classified test observations.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Confusion Matrix — shows correct and incorrect predictions for each class.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Precision — how many predicted positive/class instances were actually correct.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Recall — how many actual class instances were correctly identified.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F1-score — balance between precision and recall.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Use the test-set results to decide whether the model is ready for practical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The trained model can be stored as an .pkl file using Joblib.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Saved package contains the trained model and the feature-name list.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During prediction, new input values are arranged using the same feature order.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The model returns the predicted occupancy class.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This creates the foundation for a Streamlit web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86000"/>
            <a:ext cx="2240280" cy="1234440"/>
          </a:xfrm>
          <a:prstGeom prst="roundRect">
            <a:avLst/>
          </a:prstGeom>
          <a:solidFill>
            <a:srgbClr val="EBF3F7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User</a:t>
            </a:r>
          </a:p>
          <a:p>
            <a:pPr algn="ctr">
              <a:defRPr sz="1300"/>
            </a:pPr>
            <a:r>
              <a:t>Enters station</a:t>
            </a:r>
            <a:br/>
            <a:r>
              <a:t>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286000"/>
            <a:ext cx="2240280" cy="1234440"/>
          </a:xfrm>
          <a:prstGeom prst="roundRect">
            <a:avLst/>
          </a:prstGeom>
          <a:solidFill>
            <a:srgbClr val="EBF3F7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Streamlit App</a:t>
            </a:r>
          </a:p>
          <a:p>
            <a:pPr algn="ctr">
              <a:defRPr sz="1300"/>
            </a:pPr>
            <a:r>
              <a:t>Input form &amp;</a:t>
            </a:r>
            <a:br/>
            <a:r>
              <a:t>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2286000"/>
            <a:ext cx="2240280" cy="1234440"/>
          </a:xfrm>
          <a:prstGeom prst="roundRect">
            <a:avLst/>
          </a:prstGeom>
          <a:solidFill>
            <a:srgbClr val="EBF3F7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Saved ML Model</a:t>
            </a:r>
          </a:p>
          <a:p>
            <a:pPr algn="ctr">
              <a:defRPr sz="1300"/>
            </a:pPr>
            <a:r>
              <a:t>Decision Tree</a:t>
            </a:r>
            <a:br/>
            <a:r>
              <a:t>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240280" cy="1234440"/>
          </a:xfrm>
          <a:prstGeom prst="roundRect">
            <a:avLst/>
          </a:prstGeom>
          <a:solidFill>
            <a:srgbClr val="EBF3F7"/>
          </a:solidFill>
          <a:ln>
            <a:solidFill>
              <a:srgbClr val="1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Result</a:t>
            </a:r>
          </a:p>
          <a:p>
            <a:pPr algn="ctr">
              <a:defRPr sz="1300"/>
            </a:pPr>
            <a:r>
              <a:t>Occupancy</a:t>
            </a:r>
            <a:br/>
            <a: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83237"/>
                </a:solidFill>
              </a:defRPr>
            </a:pPr>
            <a:r>
              <a:t>The architecture separates the user interface from the trained prediction model, making the project easier to maintain and deploy.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Results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The project successfully completes the end-to-end ML workflow from data preparation to saved model.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Decision Tree provides an interpretable approach for occupancy classification.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Evaluation metrics and the confusion matrix should be included from the final notebook run.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Saved model + feature list makes the solution reusable for new predictions.</a:t>
            </a:r>
          </a:p>
          <a:p>
            <a:pPr>
              <a:spcAft>
                <a:spcPts val="1200"/>
              </a:spcAft>
              <a:defRPr sz="2000" b="0">
                <a:solidFill>
                  <a:srgbClr val="283237"/>
                </a:solidFill>
              </a:defRPr>
            </a:pPr>
            <a:r>
              <a:t>Future deployment can provide real-time occupancy predictions through a simple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4B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83237"/>
                </a:solidFill>
              </a:defRPr>
            </a:pPr>
            <a:r>
              <a:t>Conclusion: Machine learning can be used to predict EV charging-station occupancy from historical/operational data.</a:t>
            </a:r>
          </a:p>
          <a:p>
            <a:pPr>
              <a:spcAft>
                <a:spcPts val="1200"/>
              </a:spcAft>
              <a:defRPr sz="1800" b="0">
                <a:solidFill>
                  <a:srgbClr val="283237"/>
                </a:solidFill>
              </a:defRPr>
            </a:pPr>
            <a:r>
              <a:t>Future Scope:</a:t>
            </a:r>
          </a:p>
          <a:p>
            <a:pPr lvl="1">
              <a:spcAft>
                <a:spcPts val="1200"/>
              </a:spcAft>
              <a:defRPr sz="1500">
                <a:solidFill>
                  <a:srgbClr val="283237"/>
                </a:solidFill>
              </a:defRPr>
            </a:pPr>
            <a:r>
              <a:t>Compare Decision Tree with Random Forest, Logistic Regression and other classifiers.</a:t>
            </a:r>
          </a:p>
          <a:p>
            <a:pPr lvl="1">
              <a:spcAft>
                <a:spcPts val="1200"/>
              </a:spcAft>
              <a:defRPr sz="1500">
                <a:solidFill>
                  <a:srgbClr val="283237"/>
                </a:solidFill>
              </a:defRPr>
            </a:pPr>
            <a:r>
              <a:t>Tune model hyperparameters and handle class imbalance if required.</a:t>
            </a:r>
          </a:p>
          <a:p>
            <a:pPr lvl="1">
              <a:spcAft>
                <a:spcPts val="1200"/>
              </a:spcAft>
              <a:defRPr sz="1500">
                <a:solidFill>
                  <a:srgbClr val="283237"/>
                </a:solidFill>
              </a:defRPr>
            </a:pPr>
            <a:r>
              <a:t>Deploy the model using Streamlit.</a:t>
            </a:r>
          </a:p>
          <a:p>
            <a:pPr lvl="1">
              <a:spcAft>
                <a:spcPts val="1200"/>
              </a:spcAft>
              <a:defRPr sz="1500">
                <a:solidFill>
                  <a:srgbClr val="283237"/>
                </a:solidFill>
              </a:defRPr>
            </a:pPr>
            <a:r>
              <a:t>Add real-time station data and live availability information.</a:t>
            </a:r>
          </a:p>
          <a:p>
            <a:pPr lvl="1">
              <a:spcAft>
                <a:spcPts val="1200"/>
              </a:spcAft>
              <a:defRPr sz="1500">
                <a:solidFill>
                  <a:srgbClr val="283237"/>
                </a:solidFill>
              </a:defRPr>
            </a:pPr>
            <a:r>
              <a:t>Build a dashboard for operators and EV drivers.</a:t>
            </a:r>
          </a:p>
          <a:p>
            <a:pPr>
              <a:spcAft>
                <a:spcPts val="1200"/>
              </a:spcAft>
              <a:defRPr sz="1800" b="0">
                <a:solidFill>
                  <a:srgbClr val="28323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7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